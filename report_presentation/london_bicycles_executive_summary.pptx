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  <a:latin typeface="Georgia"/>
              </a:defRPr>
            </a:pPr>
            <a:r>
              <a:t>London Bicycles End-to-End Pipeline &amp; Executive Briefing</a:t>
            </a:r>
          </a:p>
          <a:p>
            <a:pPr>
              <a:defRPr sz="1400">
                <a:solidFill>
                  <a:srgbClr val="E65C00"/>
                </a:solidFill>
                <a:latin typeface="Arial"/>
              </a:defRPr>
            </a:pPr>
            <a:r>
              <a:t>Meltano ELT | GCP BigQuery | dbt Core &amp; Snapshots | dbt-expectations | Dagster (12:01 AM SGT)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1. Data Ingestion &amp; Storage</a:t>
            </a:r>
          </a:p>
          <a:p>
            <a:pPr>
              <a:spcBef>
                <a:spcPts val="1400"/>
              </a:spcBef>
              <a:defRPr sz="1200">
                <a:solidFill>
                  <a:srgbClr val="1A252C"/>
                </a:solidFill>
                <a:latin typeface="Arial"/>
              </a:defRPr>
            </a:pPr>
            <a:r>
              <a:t>• Meltano ELT Engine (tap-bigquery ➔ target-bigquery)</a:t>
            </a:r>
            <a:br/>
            <a:r>
              <a:t>• Secure Service Account JSON stored in hidden .env file</a:t>
            </a:r>
            <a:br/>
            <a:r>
              <a:t>• GCP BigQuery EU Location (&lt;GCP project id&gt;)</a:t>
            </a:r>
            <a:br/>
            <a:r>
              <a:t>• Ingests ~84M raw trip records and station metadata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2. Transformation &amp; Quality</a:t>
            </a:r>
          </a:p>
          <a:p>
            <a:pPr>
              <a:spcBef>
                <a:spcPts val="1400"/>
              </a:spcBef>
              <a:defRPr sz="1200">
                <a:solidFill>
                  <a:srgbClr val="1A252C"/>
                </a:solidFill>
                <a:latin typeface="Arial"/>
              </a:defRPr>
            </a:pPr>
            <a:r>
              <a:t>• dbt Star Schema: fact_rentals &amp; Dimension tables</a:t>
            </a:r>
            <a:br/>
            <a:r>
              <a:t>• dbt Snapshots: snapshot_stations (SCD Type 2)</a:t>
            </a:r>
            <a:br/>
            <a:r>
              <a:t>• dbt test: unique, not_null, relationships</a:t>
            </a:r>
            <a:br/>
            <a:r>
              <a:t>• dbt-expectations: Refined data quality assertions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3. Orchestration &amp; Analytics</a:t>
            </a:r>
          </a:p>
          <a:p>
            <a:pPr>
              <a:spcBef>
                <a:spcPts val="1400"/>
              </a:spcBef>
              <a:defRPr sz="1200">
                <a:solidFill>
                  <a:srgbClr val="1A252C"/>
                </a:solidFill>
                <a:latin typeface="Arial"/>
              </a:defRPr>
            </a:pPr>
            <a:r>
              <a:t>• Dagster Orchestration: Software-Defined Assets</a:t>
            </a:r>
            <a:br/>
            <a:r>
              <a:t>• Automated Schedule: Daily @ 12:01 AM SGT (1 0 * * *)</a:t>
            </a:r>
            <a:br/>
            <a:r>
              <a:t>• Runs dbt deps automatically before dbt run</a:t>
            </a:r>
            <a:br/>
            <a:r>
              <a:t>• Interactive Jupyter Analytics Notebook (.ipynb)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  <a:latin typeface="Georgia"/>
              </a:defRPr>
            </a:pPr>
            <a:r>
              <a:t>CTO Briefing: Star Schema, Snapshots &amp; Quality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Technical Architecture &amp; Quality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95.7% Query Data Scan Reduction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Partitioning fact_rentals by start_date and clustering by start_station_key drops query scans from 2.8 GB down to 120 MB.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SCD Type 2 Historical Change Tracking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dbt Snapshots (snapshot_stations) automatically track station capacity and name changes over time with dbt_valid_from / to.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Two-Tier Data Quality Framework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dbt test enforces unique/FK constraints; dbt-expectations verifies column value bounds and row counts before loading.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Dagster SGT Schedule &amp; Auto-Deps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Scheduled daily at 12:01 AM SGT with automated dbt deps execution before dbt run.</a:t>
            </a:r>
          </a:p>
        </p:txBody>
      </p:sp>
      <p:pic>
        <p:nvPicPr>
          <p:cNvPr id="4" name="Picture 3" descr="ct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0011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  <a:latin typeface="Georgia"/>
              </a:defRPr>
            </a:pPr>
            <a:r>
              <a:t>CEO Briefing: Customer Segmentation &amp; Rental Duration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Customer Commuter &amp; Leisure Insights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Weekday Commuter Spikes (08:00 AM &amp; 17:00 PM)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Weekday rides peak sharply at 08:00 AM (7.15M total rides) and 17:00 PM (6.75M total rides) around major rail gateways.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Weekend Leisure Bell Curve (~25.2 mins)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Weekend rental volume follows a smooth midday bell curve (12:00-15:00 PM) with significantly longer trip durations (25.2 mins vs 13.8 mins on weekdays).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Late-Night Duration Spikes (01:00-04:00 AM)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Trip durations reach ~35-37 mins late at night as riders travel longer distances when public transport is closed.</a:t>
            </a:r>
          </a:p>
          <a:p>
            <a:pPr>
              <a:spcBef>
                <a:spcPts val="800"/>
              </a:spcBef>
              <a:defRPr sz="1100" b="1">
                <a:solidFill>
                  <a:srgbClr val="E65C00"/>
                </a:solidFill>
                <a:latin typeface="Arial"/>
              </a:defRPr>
            </a:pPr>
            <a:r>
              <a:t>• Targeted Pricing &amp; Rebalancing</a:t>
            </a:r>
          </a:p>
          <a:p>
            <a:pPr>
              <a:defRPr sz="950">
                <a:solidFill>
                  <a:srgbClr val="1A252C"/>
                </a:solidFill>
                <a:latin typeface="Arial"/>
              </a:defRPr>
            </a:pPr>
            <a:r>
              <a:t>Operations can optimize revenue by aligning fleet dispatch with 08:00 AM / 17:00 PM peaks and launching weekend passes.</a:t>
            </a:r>
          </a:p>
        </p:txBody>
      </p:sp>
      <p:pic>
        <p:nvPicPr>
          <p:cNvPr id="4" name="Picture 3" descr="slide3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2239347"/>
          </a:xfrm>
          <a:prstGeom prst="rect">
            <a:avLst/>
          </a:prstGeom>
        </p:spPr>
      </p:pic>
      <p:pic>
        <p:nvPicPr>
          <p:cNvPr id="5" name="Picture 4" descr="slide3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931920"/>
            <a:ext cx="5486400" cy="224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4C81"/>
                </a:solidFill>
                <a:latin typeface="Georgia"/>
              </a:defRPr>
            </a:pPr>
            <a:r>
              <a:t>CEO Briefing: Top Transit Hubs &amp; 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4C81"/>
                </a:solidFill>
                <a:latin typeface="Georgia"/>
              </a:defRPr>
            </a:pPr>
            <a:r>
              <a:t>Commercial &amp; Operational Action Plan</a:t>
            </a:r>
          </a:p>
          <a:p>
            <a:pPr>
              <a:spcBef>
                <a:spcPts val="600"/>
              </a:spcBef>
              <a:defRPr sz="1050" b="1">
                <a:solidFill>
                  <a:srgbClr val="E65C00"/>
                </a:solidFill>
                <a:latin typeface="Arial"/>
              </a:defRPr>
            </a:pPr>
            <a:r>
              <a:t>1. Morning Commuter Fleet Rebalancing (06:30 AM)</a:t>
            </a:r>
          </a:p>
          <a:p>
            <a:pPr>
              <a:defRPr sz="900">
                <a:solidFill>
                  <a:srgbClr val="1A252C"/>
                </a:solidFill>
                <a:latin typeface="Arial"/>
              </a:defRPr>
            </a:pPr>
            <a:r>
              <a:t>Pre-morning fleet truck rebalancing across top 10 transit hubs—including major rail gateways (Waterloo, Kings Cross, Liverpool Street) and high-density parks (Hyde Park, Kensington Gardens)—prevents dock shortages and captures peak morning demand.</a:t>
            </a:r>
          </a:p>
          <a:p>
            <a:pPr>
              <a:spcBef>
                <a:spcPts val="600"/>
              </a:spcBef>
              <a:defRPr sz="1050" b="1">
                <a:solidFill>
                  <a:srgbClr val="E65C00"/>
                </a:solidFill>
                <a:latin typeface="Arial"/>
              </a:defRPr>
            </a:pPr>
            <a:r>
              <a:t>2. Off-Peak Commuter Incentives</a:t>
            </a:r>
          </a:p>
          <a:p>
            <a:pPr>
              <a:defRPr sz="900">
                <a:solidFill>
                  <a:srgbClr val="1A252C"/>
                </a:solidFill>
                <a:latin typeface="Arial"/>
              </a:defRPr>
            </a:pPr>
            <a:r>
              <a:t>Midday rides (10:00-15:00) drop by ~60%. Off-peak pricing incentives optimize bike utilization across all hours.</a:t>
            </a:r>
          </a:p>
          <a:p>
            <a:pPr>
              <a:spcBef>
                <a:spcPts val="600"/>
              </a:spcBef>
              <a:defRPr sz="1050" b="1">
                <a:solidFill>
                  <a:srgbClr val="E65C00"/>
                </a:solidFill>
                <a:latin typeface="Arial"/>
              </a:defRPr>
            </a:pPr>
            <a:r>
              <a:t>3. Weekend 24-Hour Leisure Pass Launch</a:t>
            </a:r>
          </a:p>
          <a:p>
            <a:pPr>
              <a:defRPr sz="900">
                <a:solidFill>
                  <a:srgbClr val="1A252C"/>
                </a:solidFill>
                <a:latin typeface="Arial"/>
              </a:defRPr>
            </a:pPr>
            <a:r>
              <a:t>Weekend rentals average 25.2 mins vs 13.8 mins on weekdays. Introducing a leisure pass captures tourist &amp; weekend demand.</a:t>
            </a:r>
          </a:p>
          <a:p>
            <a:pPr>
              <a:spcBef>
                <a:spcPts val="600"/>
              </a:spcBef>
              <a:defRPr sz="1050" b="1">
                <a:solidFill>
                  <a:srgbClr val="E65C00"/>
                </a:solidFill>
                <a:latin typeface="Arial"/>
              </a:defRPr>
            </a:pPr>
            <a:r>
              <a:t>4. Top 10 Station Capacity Expansion</a:t>
            </a:r>
          </a:p>
          <a:p>
            <a:pPr>
              <a:defRPr sz="900">
                <a:solidFill>
                  <a:srgbClr val="1A252C"/>
                </a:solidFill>
                <a:latin typeface="Arial"/>
              </a:defRPr>
            </a:pPr>
            <a:r>
              <a:t>Expanding dock capacity at top transit hubs (Waterloo Stations 1 &amp; 3 &gt;940k trips, Kings Cross &gt;570k trips, Hyde Park Corner &gt;660k trips) prevents dock-locking errors during rush hours.</a:t>
            </a:r>
          </a:p>
        </p:txBody>
      </p:sp>
      <p:pic>
        <p:nvPicPr>
          <p:cNvPr id="4" name="Picture 3" descr="top10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486400" cy="35159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